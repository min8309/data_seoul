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84C"/>
    <a:srgbClr val="F8ECE0"/>
    <a:srgbClr val="A3B1BB"/>
    <a:srgbClr val="3850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20" y="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6933"/>
            <a:ext cx="12191695" cy="6858000"/>
          </a:xfrm>
          <a:prstGeom prst="rect">
            <a:avLst/>
          </a:prstGeom>
          <a:blipFill dpi="0" rotWithShape="1">
            <a:blip r:embed="rId2">
              <a:alphaModFix amt="34000"/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384C"/>
                </a:solidFill>
              </a:defRPr>
            </a:pPr>
            <a:r>
              <a:t>서울, 어디서 놀고 어디서 벌까?</a:t>
            </a:r>
          </a:p>
          <a:p>
            <a:pPr>
              <a:spcBef>
                <a:spcPts val="1000"/>
              </a:spcBef>
              <a:defRPr sz="2000">
                <a:solidFill>
                  <a:srgbClr val="2F6F73"/>
                </a:solidFill>
              </a:defRPr>
            </a:pPr>
            <a:r>
              <a:t>공공데이터로 찾는 서울 핫플 &amp; AI 창업 추천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84048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3840480"/>
            <a:ext cx="73152" cy="1234440"/>
          </a:xfrm>
          <a:prstGeom prst="rect">
            <a:avLst/>
          </a:prstGeom>
          <a:solidFill>
            <a:srgbClr val="D9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3977640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84C"/>
                </a:solidFill>
              </a:defRPr>
            </a:pPr>
            <a:r>
              <a:t>🔥 소비자 모드</a:t>
            </a:r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t>2030 · 주말 · 야간 유동인구로 핫플 탐색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84048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3840480"/>
            <a:ext cx="73152" cy="1234440"/>
          </a:xfrm>
          <a:prstGeom prst="rect">
            <a:avLst/>
          </a:prstGeom>
          <a:solidFill>
            <a:srgbClr val="2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3977640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84C"/>
                </a:solidFill>
              </a:defRPr>
            </a:pPr>
            <a:r>
              <a:t>👔 사장님 모드</a:t>
            </a:r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t>매출 · 유동인구 · 폐업 안정성으로 창업 상권 추천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384048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3840480"/>
            <a:ext cx="73152" cy="1234440"/>
          </a:xfrm>
          <a:prstGeom prst="rect">
            <a:avLst/>
          </a:prstGeom>
          <a:solidFill>
            <a:srgbClr val="F49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3977640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84C"/>
                </a:solidFill>
              </a:defRPr>
            </a:pPr>
            <a:r>
              <a:t>🤖 AI 매출 예측</a:t>
            </a:r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t>Random Forest로 점포당 월매출 예측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024" y="5593082"/>
            <a:ext cx="27590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3"/>
                </a:solidFill>
              </a:defRPr>
            </a:pPr>
            <a:r>
              <a:rPr sz="1400" b="1" dirty="0" err="1"/>
              <a:t>서울</a:t>
            </a:r>
            <a:r>
              <a:rPr sz="1400" b="1" dirty="0"/>
              <a:t> </a:t>
            </a:r>
            <a:r>
              <a:rPr sz="1400" b="1" dirty="0" err="1"/>
              <a:t>상권</a:t>
            </a:r>
            <a:r>
              <a:rPr sz="1400" b="1" dirty="0"/>
              <a:t> </a:t>
            </a:r>
            <a:r>
              <a:rPr sz="1400" b="1" dirty="0" err="1"/>
              <a:t>데이터</a:t>
            </a:r>
            <a:r>
              <a:rPr sz="1400" b="1" dirty="0"/>
              <a:t> </a:t>
            </a:r>
            <a:r>
              <a:rPr sz="1400" b="1" dirty="0" err="1"/>
              <a:t>분석</a:t>
            </a:r>
            <a:r>
              <a:rPr sz="1400" b="1" dirty="0"/>
              <a:t> </a:t>
            </a:r>
            <a:r>
              <a:rPr sz="1400" b="1" dirty="0" err="1"/>
              <a:t>프로젝트</a:t>
            </a:r>
            <a:r>
              <a:rPr lang="en-US" sz="1400" b="1" dirty="0"/>
              <a:t>  </a:t>
            </a:r>
          </a:p>
          <a:p>
            <a:pPr>
              <a:defRPr sz="1200">
                <a:solidFill>
                  <a:srgbClr val="5A6973"/>
                </a:solidFill>
              </a:defRPr>
            </a:pPr>
            <a:r>
              <a:rPr lang="en-US" sz="1400" b="1" dirty="0"/>
              <a:t>Park Min Sun</a:t>
            </a:r>
            <a:endParaRPr sz="1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">
            <a:extLst>
              <a:ext uri="{FF2B5EF4-FFF2-40B4-BE49-F238E27FC236}">
                <a16:creationId xmlns:a16="http://schemas.microsoft.com/office/drawing/2014/main" id="{7ED28C42-98DD-4B9C-B4A7-1634ABC9F09A}"/>
              </a:ext>
            </a:extLst>
          </p:cNvPr>
          <p:cNvSpPr/>
          <p:nvPr/>
        </p:nvSpPr>
        <p:spPr>
          <a:xfrm>
            <a:off x="305" y="-16933"/>
            <a:ext cx="12191695" cy="6858000"/>
          </a:xfrm>
          <a:prstGeom prst="rect">
            <a:avLst/>
          </a:prstGeom>
          <a:blipFill dpi="0" rotWithShape="1">
            <a:blip r:embed="rId2">
              <a:alphaModFix amt="34000"/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84C"/>
                </a:solidFill>
              </a:defRPr>
            </a:pPr>
            <a:r>
              <a:t>1. 프로젝트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3"/>
                </a:solidFill>
              </a:defRPr>
            </a:pPr>
            <a:r>
              <a:t>공공데이터 → 분석지표 → AI 예측 → Streamlit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973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73152" cy="1828800"/>
          </a:xfrm>
          <a:prstGeom prst="rect">
            <a:avLst/>
          </a:prstGeom>
          <a:solidFill>
            <a:srgbClr val="2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194560"/>
            <a:ext cx="1645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84C"/>
                </a:solidFill>
              </a:defRPr>
            </a:pPr>
            <a:r>
              <a:t>① 데이터 수집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매출 · 점포 · 유동인구 · 상권 영역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971800"/>
            <a:ext cx="256032" cy="0"/>
          </a:xfrm>
          <a:prstGeom prst="line">
            <a:avLst/>
          </a:prstGeom>
          <a:ln w="27940">
            <a:solidFill>
              <a:srgbClr val="2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39" y="205740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34639" y="2057400"/>
            <a:ext cx="73152" cy="1828800"/>
          </a:xfrm>
          <a:prstGeom prst="rect">
            <a:avLst/>
          </a:prstGeom>
          <a:solidFill>
            <a:srgbClr val="D9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2194560"/>
            <a:ext cx="1645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84C"/>
                </a:solidFill>
              </a:defRPr>
            </a:pPr>
            <a:r>
              <a:t>② 정제·병합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연도·분기·상권·업종 기준 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6320" y="2971800"/>
            <a:ext cx="256032" cy="0"/>
          </a:xfrm>
          <a:prstGeom prst="line">
            <a:avLst/>
          </a:prstGeom>
          <a:ln w="27940">
            <a:solidFill>
              <a:srgbClr val="2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59" y="205740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66359" y="2057400"/>
            <a:ext cx="73152" cy="1828800"/>
          </a:xfrm>
          <a:prstGeom prst="rect">
            <a:avLst/>
          </a:prstGeom>
          <a:solidFill>
            <a:srgbClr val="F49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67527" y="2194560"/>
            <a:ext cx="1645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84C"/>
                </a:solidFill>
              </a:defRPr>
            </a:pPr>
            <a:r>
              <a:t>③ 지표 설계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창업추천점수 / 핫플점수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78040" y="2971800"/>
            <a:ext cx="256031" cy="0"/>
          </a:xfrm>
          <a:prstGeom prst="line">
            <a:avLst/>
          </a:prstGeom>
          <a:ln w="27940">
            <a:solidFill>
              <a:srgbClr val="2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79" y="205740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98079" y="2057400"/>
            <a:ext cx="73152" cy="1828800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9248" y="2194560"/>
            <a:ext cx="1645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84C"/>
                </a:solidFill>
              </a:defRPr>
            </a:pPr>
            <a:r>
              <a:t>④ AI 예측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Random Forest 월매출 예측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09759" y="2971800"/>
            <a:ext cx="256033" cy="0"/>
          </a:xfrm>
          <a:prstGeom prst="line">
            <a:avLst/>
          </a:prstGeom>
          <a:ln w="27940">
            <a:solidFill>
              <a:srgbClr val="2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205740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29800" y="2057400"/>
            <a:ext cx="73152" cy="1828800"/>
          </a:xfrm>
          <a:prstGeom prst="rect">
            <a:avLst/>
          </a:prstGeom>
          <a:solidFill>
            <a:srgbClr val="17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30968" y="2194560"/>
            <a:ext cx="1645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84C"/>
                </a:solidFill>
              </a:defRPr>
            </a:pPr>
            <a:r>
              <a:t>⑤ 서비스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사장님 / 소비자 모드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617720"/>
            <a:ext cx="10722807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아이디어</a:t>
            </a:r>
            <a:endParaRPr lang="en-US" dirty="0"/>
          </a:p>
          <a:p>
            <a:pPr>
              <a:defRPr sz="1800" b="1">
                <a:solidFill>
                  <a:srgbClr val="17384C"/>
                </a:solidFill>
              </a:defRPr>
            </a:pPr>
            <a:endParaRPr dirty="0"/>
          </a:p>
          <a:p>
            <a:pPr>
              <a:defRPr sz="1500">
                <a:solidFill>
                  <a:srgbClr val="1F2937"/>
                </a:solidFill>
              </a:defRPr>
            </a:pPr>
            <a:r>
              <a:rPr dirty="0"/>
              <a:t>“</a:t>
            </a:r>
            <a:r>
              <a:rPr dirty="0" err="1"/>
              <a:t>사람이</a:t>
            </a:r>
            <a:r>
              <a:rPr dirty="0"/>
              <a:t> </a:t>
            </a:r>
            <a:r>
              <a:rPr dirty="0" err="1"/>
              <a:t>많은</a:t>
            </a:r>
            <a:r>
              <a:rPr dirty="0"/>
              <a:t> </a:t>
            </a:r>
            <a:r>
              <a:rPr dirty="0" err="1"/>
              <a:t>곳”만</a:t>
            </a:r>
            <a:r>
              <a:rPr dirty="0"/>
              <a:t> </a:t>
            </a:r>
            <a:r>
              <a:rPr dirty="0" err="1"/>
              <a:t>찾지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, </a:t>
            </a:r>
            <a:r>
              <a:rPr dirty="0" err="1"/>
              <a:t>창업자에게는</a:t>
            </a:r>
            <a:r>
              <a:rPr dirty="0"/>
              <a:t> </a:t>
            </a:r>
            <a:r>
              <a:rPr dirty="0" err="1"/>
              <a:t>수익성과</a:t>
            </a:r>
            <a:r>
              <a:rPr dirty="0"/>
              <a:t> </a:t>
            </a:r>
            <a:r>
              <a:rPr dirty="0" err="1"/>
              <a:t>안정성</a:t>
            </a:r>
            <a:r>
              <a:rPr dirty="0"/>
              <a:t>, </a:t>
            </a:r>
            <a:r>
              <a:rPr dirty="0" err="1"/>
              <a:t>소비자에게는</a:t>
            </a:r>
            <a:r>
              <a:rPr dirty="0"/>
              <a:t> </a:t>
            </a:r>
            <a:r>
              <a:rPr dirty="0" err="1"/>
              <a:t>젊은층·주말·야간</a:t>
            </a:r>
            <a:r>
              <a:rPr dirty="0"/>
              <a:t> </a:t>
            </a:r>
            <a:r>
              <a:rPr dirty="0" err="1"/>
              <a:t>활동성을</a:t>
            </a:r>
            <a:r>
              <a:rPr dirty="0"/>
              <a:t> </a:t>
            </a:r>
            <a:r>
              <a:rPr dirty="0" err="1"/>
              <a:t>다르게</a:t>
            </a:r>
            <a:r>
              <a:rPr dirty="0"/>
              <a:t> </a:t>
            </a:r>
            <a:r>
              <a:rPr dirty="0" err="1"/>
              <a:t>반영했습니다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">
            <a:extLst>
              <a:ext uri="{FF2B5EF4-FFF2-40B4-BE49-F238E27FC236}">
                <a16:creationId xmlns:a16="http://schemas.microsoft.com/office/drawing/2014/main" id="{FF2D35D3-AB1D-4630-9B0F-11C03B0D6225}"/>
              </a:ext>
            </a:extLst>
          </p:cNvPr>
          <p:cNvSpPr/>
          <p:nvPr/>
        </p:nvSpPr>
        <p:spPr>
          <a:xfrm>
            <a:off x="305" y="-16933"/>
            <a:ext cx="12191695" cy="6858000"/>
          </a:xfrm>
          <a:prstGeom prst="rect">
            <a:avLst/>
          </a:prstGeom>
          <a:blipFill dpi="0" rotWithShape="1">
            <a:blip r:embed="rId2">
              <a:alphaModFix amt="34000"/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84C"/>
                </a:solidFill>
              </a:defRPr>
            </a:pPr>
            <a:r>
              <a:t>2. 어떤 데이터를 모았나?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3"/>
                </a:solidFill>
              </a:defRPr>
            </a:pPr>
            <a:r>
              <a:t>분석 목적에 따라 서로 다른 공공데이터를 하나의 상권 데이터마트로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973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2148840"/>
          </a:xfrm>
          <a:prstGeom prst="rect">
            <a:avLst/>
          </a:prstGeom>
          <a:solidFill>
            <a:srgbClr val="D9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14884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rPr dirty="0"/>
              <a:t>💰 </a:t>
            </a:r>
            <a:r>
              <a:rPr dirty="0" err="1"/>
              <a:t>매출</a:t>
            </a:r>
            <a:endParaRPr dirty="0"/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</a:defRPr>
            </a:pPr>
            <a:r>
              <a:rPr dirty="0" err="1"/>
              <a:t>분기당</a:t>
            </a:r>
            <a:r>
              <a:rPr dirty="0"/>
              <a:t> </a:t>
            </a:r>
            <a:r>
              <a:rPr dirty="0" err="1"/>
              <a:t>매출금액</a:t>
            </a:r>
            <a:br>
              <a:rPr dirty="0"/>
            </a:br>
            <a:r>
              <a:rPr dirty="0" err="1"/>
              <a:t>분기당</a:t>
            </a:r>
            <a:r>
              <a:rPr dirty="0"/>
              <a:t> </a:t>
            </a:r>
            <a:r>
              <a:rPr dirty="0" err="1"/>
              <a:t>매출건수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04671" y="31821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95F"/>
                </a:solidFill>
              </a:defRPr>
            </a:pPr>
            <a:r>
              <a:t>→ 점포당 월매출·객단가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600200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3008" y="1600200"/>
            <a:ext cx="73152" cy="2148840"/>
          </a:xfrm>
          <a:prstGeom prst="rect">
            <a:avLst/>
          </a:prstGeom>
          <a:solidFill>
            <a:srgbClr val="2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94176" y="1737360"/>
            <a:ext cx="214884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rPr dirty="0"/>
              <a:t>🏪 </a:t>
            </a:r>
            <a:r>
              <a:rPr dirty="0" err="1"/>
              <a:t>점포</a:t>
            </a:r>
            <a:endParaRPr dirty="0"/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</a:defRPr>
            </a:pPr>
            <a:r>
              <a:rPr dirty="0" err="1"/>
              <a:t>점포</a:t>
            </a:r>
            <a:r>
              <a:rPr dirty="0"/>
              <a:t> 수</a:t>
            </a:r>
            <a:br>
              <a:rPr dirty="0"/>
            </a:br>
            <a:r>
              <a:rPr dirty="0" err="1"/>
              <a:t>폐업</a:t>
            </a:r>
            <a:r>
              <a:rPr dirty="0"/>
              <a:t> </a:t>
            </a:r>
            <a:r>
              <a:rPr dirty="0" err="1"/>
              <a:t>점포</a:t>
            </a:r>
            <a:r>
              <a:rPr dirty="0"/>
              <a:t> 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821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F73"/>
                </a:solidFill>
              </a:defRPr>
            </a:pPr>
            <a:r>
              <a:t>→ 폐업점포 비율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5936" y="1600200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45936" y="1600200"/>
            <a:ext cx="73152" cy="2148840"/>
          </a:xfrm>
          <a:prstGeom prst="rect">
            <a:avLst/>
          </a:prstGeom>
          <a:solidFill>
            <a:srgbClr val="F49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47104" y="1737360"/>
            <a:ext cx="214884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rPr dirty="0"/>
              <a:t>👥 </a:t>
            </a:r>
            <a:r>
              <a:rPr dirty="0" err="1"/>
              <a:t>유동인구</a:t>
            </a:r>
            <a:endParaRPr dirty="0"/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</a:defRPr>
            </a:pPr>
            <a:r>
              <a:rPr dirty="0"/>
              <a:t>총 </a:t>
            </a:r>
            <a:r>
              <a:rPr dirty="0" err="1"/>
              <a:t>유동인구</a:t>
            </a:r>
            <a:br>
              <a:rPr dirty="0"/>
            </a:br>
            <a:r>
              <a:rPr dirty="0" err="1"/>
              <a:t>연령·요일·시간대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510528" y="31821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9542"/>
                </a:solidFill>
              </a:defRPr>
            </a:pPr>
            <a:r>
              <a:t>→ 2030·주말·야간 지표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8863" y="1600200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98863" y="1600200"/>
            <a:ext cx="73152" cy="2148840"/>
          </a:xfrm>
          <a:prstGeom prst="rect">
            <a:avLst/>
          </a:prstGeom>
          <a:solidFill>
            <a:srgbClr val="17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00032" y="1737360"/>
            <a:ext cx="214884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rPr dirty="0"/>
              <a:t>📍 </a:t>
            </a:r>
            <a:r>
              <a:rPr dirty="0" err="1"/>
              <a:t>상권</a:t>
            </a:r>
            <a:r>
              <a:rPr dirty="0"/>
              <a:t> </a:t>
            </a:r>
            <a:r>
              <a:rPr dirty="0" err="1"/>
              <a:t>영역</a:t>
            </a:r>
            <a:endParaRPr dirty="0"/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</a:defRPr>
            </a:pPr>
            <a:r>
              <a:rPr dirty="0" err="1"/>
              <a:t>상권</a:t>
            </a:r>
            <a:r>
              <a:rPr dirty="0"/>
              <a:t> </a:t>
            </a:r>
            <a:r>
              <a:rPr dirty="0" err="1"/>
              <a:t>코드·이름</a:t>
            </a:r>
            <a:br>
              <a:rPr dirty="0"/>
            </a:br>
            <a:r>
              <a:rPr dirty="0" err="1"/>
              <a:t>위치</a:t>
            </a:r>
            <a:r>
              <a:rPr dirty="0"/>
              <a:t> </a:t>
            </a:r>
            <a:r>
              <a:rPr dirty="0" err="1"/>
              <a:t>정보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9363455" y="31821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84C"/>
                </a:solidFill>
              </a:defRPr>
            </a:pPr>
            <a:r>
              <a:t>→ 지도 시각화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43400"/>
            <a:ext cx="10835640" cy="1188720"/>
          </a:xfrm>
          <a:prstGeom prst="roundRect">
            <a:avLst/>
          </a:prstGeom>
          <a:solidFill>
            <a:srgbClr val="E7F2F4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343400"/>
            <a:ext cx="73152" cy="1188720"/>
          </a:xfrm>
          <a:prstGeom prst="rect">
            <a:avLst/>
          </a:prstGeom>
          <a:solidFill>
            <a:srgbClr val="2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7" y="4480560"/>
            <a:ext cx="10469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t>분석 기준</a:t>
            </a:r>
          </a:p>
          <a:p>
            <a:pPr>
              <a:spcBef>
                <a:spcPts val="600"/>
              </a:spcBef>
              <a:defRPr sz="1400">
                <a:solidFill>
                  <a:srgbClr val="1F2937"/>
                </a:solidFill>
              </a:defRPr>
            </a:pPr>
            <a:r>
              <a:t>연도 + 분기 + 상권 + 업종을 공통 키로 사용해 서로 다른 데이터를 같은 행의 분석 정보로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>
            <a:extLst>
              <a:ext uri="{FF2B5EF4-FFF2-40B4-BE49-F238E27FC236}">
                <a16:creationId xmlns:a16="http://schemas.microsoft.com/office/drawing/2014/main" id="{CB29C2C2-6525-49E8-974A-5AB0999A1346}"/>
              </a:ext>
            </a:extLst>
          </p:cNvPr>
          <p:cNvSpPr/>
          <p:nvPr/>
        </p:nvSpPr>
        <p:spPr>
          <a:xfrm>
            <a:off x="305" y="-16933"/>
            <a:ext cx="12191695" cy="6858000"/>
          </a:xfrm>
          <a:prstGeom prst="rect">
            <a:avLst/>
          </a:prstGeom>
          <a:blipFill dpi="0" rotWithShape="1">
            <a:blip r:embed="rId2">
              <a:alphaModFix amt="34000"/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84C"/>
                </a:solidFill>
              </a:defRPr>
            </a:pPr>
            <a:r>
              <a:t>3. 데이터 처리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3"/>
                </a:solidFill>
              </a:defRPr>
            </a:pPr>
            <a:r>
              <a:t>원본 수치 → 비교 가능한 상권 지표로 변환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973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49240" cy="42062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핵심 파생변수 코드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01368"/>
            <a:ext cx="4946903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mart["객단가"] = (</a:t>
            </a:r>
            <a:br/>
            <a:r>
              <a:t>    mart["분기당_매출_금액"]</a:t>
            </a:r>
            <a:br/>
            <a:r>
              <a:t>    / mart["분기당_매출_건수"].replace(0, pd.NA)</a:t>
            </a:r>
            <a:br/>
            <a:r>
              <a:t>)</a:t>
            </a:r>
            <a:br/>
            <a:br/>
            <a:r>
              <a:t>mart["점포당_월매출"] = (</a:t>
            </a:r>
            <a:br/>
            <a:r>
              <a:t>    mart["분기당_매출_금액"]</a:t>
            </a:r>
            <a:br/>
            <a:r>
              <a:t>    / mart["점포_수"].replace(0, pd.NA)</a:t>
            </a:r>
            <a:br/>
            <a:r>
              <a:t>    / 3</a:t>
            </a:r>
            <a:br/>
            <a:r>
              <a:t>)</a:t>
            </a:r>
            <a:br/>
            <a:br/>
            <a:r>
              <a:t>mart["폐업비율"] = (</a:t>
            </a:r>
            <a:br/>
            <a:r>
              <a:t>    mart["폐업_점포_수"]</a:t>
            </a:r>
            <a:br/>
            <a:r>
              <a:t>    / mart["점포_수"].replace(0, pd.NA) * 100</a:t>
            </a:r>
            <a:br/>
            <a: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1143000"/>
          </a:xfrm>
          <a:prstGeom prst="rect">
            <a:avLst/>
          </a:prstGeom>
          <a:solidFill>
            <a:srgbClr val="D9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554480"/>
            <a:ext cx="49377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84C"/>
                </a:solidFill>
              </a:defRPr>
            </a:pPr>
            <a:r>
              <a:t>① 0으로 나누기 방지</a:t>
            </a:r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t>replace(0, pd.NA)로 비정상 계산을 방지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74320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2743200"/>
            <a:ext cx="73152" cy="1143000"/>
          </a:xfrm>
          <a:prstGeom prst="rect">
            <a:avLst/>
          </a:prstGeom>
          <a:solidFill>
            <a:srgbClr val="2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2880360"/>
            <a:ext cx="49377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84C"/>
                </a:solidFill>
              </a:defRPr>
            </a:pPr>
            <a:r>
              <a:t>② 분기 → 월 단위 변환</a:t>
            </a:r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t>점포당 분기매출을 3으로 나눠 월매출로 해석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0690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4069080"/>
            <a:ext cx="73152" cy="1143000"/>
          </a:xfrm>
          <a:prstGeom prst="rect">
            <a:avLst/>
          </a:prstGeom>
          <a:solidFill>
            <a:srgbClr val="F49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7" y="4206240"/>
            <a:ext cx="49377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84C"/>
                </a:solidFill>
              </a:defRPr>
            </a:pPr>
            <a:r>
              <a:t>③ 용어 주의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‘폐업비율’은 엄밀한 생존분석 폐업률이 아니라 현재 점포 수 대비 폐업점포 비율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">
            <a:extLst>
              <a:ext uri="{FF2B5EF4-FFF2-40B4-BE49-F238E27FC236}">
                <a16:creationId xmlns:a16="http://schemas.microsoft.com/office/drawing/2014/main" id="{B003F0D0-4FCD-4CEC-9768-C3309BDC7243}"/>
              </a:ext>
            </a:extLst>
          </p:cNvPr>
          <p:cNvSpPr/>
          <p:nvPr/>
        </p:nvSpPr>
        <p:spPr>
          <a:xfrm>
            <a:off x="305" y="-16933"/>
            <a:ext cx="12191695" cy="6858000"/>
          </a:xfrm>
          <a:prstGeom prst="rect">
            <a:avLst/>
          </a:prstGeom>
          <a:blipFill dpi="0" rotWithShape="1">
            <a:blip r:embed="rId2">
              <a:alphaModFix amt="34000"/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84C"/>
                </a:solidFill>
              </a:defRPr>
            </a:pPr>
            <a:r>
              <a:t>4. 데이터는 어떻게 병합했나?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3"/>
                </a:solidFill>
              </a:defRPr>
            </a:pPr>
            <a:r>
              <a:t>서로 다른 파일을 동일한 상권·업종·시점으로 맞추는 것이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973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4206240" cy="19202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08760"/>
            <a:ext cx="3840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공통 병합 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01368"/>
            <a:ext cx="3803903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merge_key = [</a:t>
            </a:r>
            <a:br/>
            <a:r>
              <a:t>    "기준_년_코드",</a:t>
            </a:r>
            <a:br/>
            <a:r>
              <a:t>    "기준_분기_코드",</a:t>
            </a:r>
            <a:br/>
            <a:r>
              <a:t>    "상권_코드",</a:t>
            </a:r>
            <a:br/>
            <a:r>
              <a:t>    "서비스_업종_코드"</a:t>
            </a:r>
            <a:br/>
            <a:r>
              <a:t>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50876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0" y="1508760"/>
            <a:ext cx="73152" cy="822960"/>
          </a:xfrm>
          <a:prstGeom prst="rect">
            <a:avLst/>
          </a:prstGeom>
          <a:solidFill>
            <a:srgbClr val="D9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87568" y="1645919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84C"/>
                </a:solidFill>
              </a:defRPr>
            </a:pPr>
            <a:r>
              <a:t>매출 데이터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79" y="1920240"/>
            <a:ext cx="777241" cy="1280160"/>
          </a:xfrm>
          <a:prstGeom prst="line">
            <a:avLst/>
          </a:prstGeom>
          <a:ln w="27940">
            <a:solidFill>
              <a:srgbClr val="2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0" y="278892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0" y="2788920"/>
            <a:ext cx="73152" cy="822960"/>
          </a:xfrm>
          <a:prstGeom prst="rect">
            <a:avLst/>
          </a:prstGeom>
          <a:solidFill>
            <a:srgbClr val="2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87568" y="2926079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84C"/>
                </a:solidFill>
              </a:defRPr>
            </a:pPr>
            <a:r>
              <a:t>점포 데이터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79" y="3200400"/>
            <a:ext cx="777241" cy="0"/>
          </a:xfrm>
          <a:prstGeom prst="line">
            <a:avLst/>
          </a:prstGeom>
          <a:ln w="27940">
            <a:solidFill>
              <a:srgbClr val="2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0" y="406908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0" y="4069080"/>
            <a:ext cx="73152" cy="822960"/>
          </a:xfrm>
          <a:prstGeom prst="rect">
            <a:avLst/>
          </a:prstGeom>
          <a:solidFill>
            <a:srgbClr val="F49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87568" y="42062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84C"/>
                </a:solidFill>
              </a:defRPr>
            </a:pPr>
            <a:r>
              <a:t>유동인구 데이터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498079" y="3200400"/>
            <a:ext cx="777241" cy="1280160"/>
          </a:xfrm>
          <a:prstGeom prst="line">
            <a:avLst/>
          </a:prstGeom>
          <a:ln w="27940">
            <a:solidFill>
              <a:srgbClr val="2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366760" y="2331720"/>
            <a:ext cx="2971800" cy="1737360"/>
          </a:xfrm>
          <a:prstGeom prst="roundRect">
            <a:avLst/>
          </a:prstGeom>
          <a:solidFill>
            <a:srgbClr val="E7F2F4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66760" y="2331720"/>
            <a:ext cx="73152" cy="1737360"/>
          </a:xfrm>
          <a:prstGeom prst="rect">
            <a:avLst/>
          </a:prstGeom>
          <a:solidFill>
            <a:srgbClr val="17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67928" y="2468879"/>
            <a:ext cx="2606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t>통합 데이터마트</a:t>
            </a:r>
          </a:p>
          <a:p>
            <a:pPr>
              <a:spcBef>
                <a:spcPts val="600"/>
              </a:spcBef>
              <a:defRPr sz="1400">
                <a:solidFill>
                  <a:srgbClr val="1F2937"/>
                </a:solidFill>
              </a:defRPr>
            </a:pPr>
            <a:r>
              <a:t>84,675행 × 26열</a:t>
            </a:r>
            <a:br/>
            <a:r>
              <a:t>분석·추천·예측의 공통 기반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77639"/>
            <a:ext cx="4206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977639"/>
            <a:ext cx="73152" cy="1417320"/>
          </a:xfrm>
          <a:prstGeom prst="rect">
            <a:avLst/>
          </a:prstGeom>
          <a:solidFill>
            <a:srgbClr val="17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4114800"/>
            <a:ext cx="38404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84C"/>
                </a:solidFill>
              </a:defRPr>
            </a:pPr>
            <a:r>
              <a:t>왜 이 키가 중요한가?</a:t>
            </a:r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t>같은 ‘강남역’이라도 분기와 업종이 다르면 매출·점포 상황이 달라지므로 시점과 업종까지 함께 맞춰야 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">
            <a:extLst>
              <a:ext uri="{FF2B5EF4-FFF2-40B4-BE49-F238E27FC236}">
                <a16:creationId xmlns:a16="http://schemas.microsoft.com/office/drawing/2014/main" id="{E8237AA5-9E52-4339-903F-6A1369E5347B}"/>
              </a:ext>
            </a:extLst>
          </p:cNvPr>
          <p:cNvSpPr/>
          <p:nvPr/>
        </p:nvSpPr>
        <p:spPr>
          <a:xfrm>
            <a:off x="0" y="16933"/>
            <a:ext cx="12191695" cy="6858000"/>
          </a:xfrm>
          <a:prstGeom prst="rect">
            <a:avLst/>
          </a:prstGeom>
          <a:blipFill dpi="0" rotWithShape="1">
            <a:blip r:embed="rId2">
              <a:alphaModFix amt="34000"/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84C"/>
                </a:solidFill>
              </a:defRPr>
            </a:pPr>
            <a:r>
              <a:t>5. 사장님 모드: AI가 아니라 ‘규칙 기반 추천’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3"/>
                </a:solidFill>
              </a:defRPr>
            </a:pPr>
            <a:r>
              <a:t>창업추천점수는 사람이 정의한 가중치 기반 의사결정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973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143000"/>
          </a:xfrm>
          <a:prstGeom prst="rect">
            <a:avLst/>
          </a:prstGeom>
          <a:solidFill>
            <a:srgbClr val="D9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5448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t>매출 40%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1732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1417320"/>
            <a:ext cx="73152" cy="1143000"/>
          </a:xfrm>
          <a:prstGeom prst="rect">
            <a:avLst/>
          </a:prstGeom>
          <a:solidFill>
            <a:srgbClr val="2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7" y="155448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t>유동인구 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73152" cy="1143000"/>
          </a:xfrm>
          <a:prstGeom prst="rect">
            <a:avLst/>
          </a:prstGeom>
          <a:solidFill>
            <a:srgbClr val="F49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55448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t>2030 20%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41732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61120" y="1417320"/>
            <a:ext cx="73152" cy="1143000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62288" y="155448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t>폐업 안정성 15%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26080"/>
            <a:ext cx="5669280" cy="24231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0175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추천점수 핵심 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310128"/>
            <a:ext cx="5266944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def percentile_score(series):</a:t>
            </a:r>
            <a:br/>
            <a:r>
              <a:t>    return series.rank(pct=True) * 100</a:t>
            </a:r>
            <a:br/>
            <a:br/>
            <a:r>
              <a:t>df["창업추천점수_v2"] = (</a:t>
            </a:r>
            <a:br/>
            <a:r>
              <a:t>    df["매출점수_v2"] * 0.40</a:t>
            </a:r>
            <a:br/>
            <a:r>
              <a:t>    + df["유동인구점수_v2"] * 0.25</a:t>
            </a:r>
            <a:br/>
            <a:r>
              <a:t>    + df["2030점수_v2"] * 0.20</a:t>
            </a:r>
            <a:br/>
            <a:r>
              <a:t>    + df["폐업안정점수_v2"] * 0.15</a:t>
            </a:r>
            <a:br/>
            <a:r>
              <a:t>)</a:t>
            </a:r>
            <a:br/>
            <a:br/>
            <a:r>
              <a:t>df = df[df["점포_수"] &gt;= 3]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2926080"/>
            <a:ext cx="4663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20840" y="2926080"/>
            <a:ext cx="73152" cy="1051560"/>
          </a:xfrm>
          <a:prstGeom prst="rect">
            <a:avLst/>
          </a:prstGeom>
          <a:solidFill>
            <a:srgbClr val="2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22007" y="3063240"/>
            <a:ext cx="429767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84C"/>
                </a:solidFill>
              </a:defRPr>
            </a:pPr>
            <a:r>
              <a:t>왜 백분위 점수?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원·명·%처럼 단위가 다른 지표를 0~100의 비교 가능한 위치값으로 변환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4160520"/>
            <a:ext cx="4663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720840" y="4160520"/>
            <a:ext cx="73152" cy="1188720"/>
          </a:xfrm>
          <a:prstGeom prst="rect">
            <a:avLst/>
          </a:prstGeom>
          <a:solidFill>
            <a:srgbClr val="F49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22007" y="4297680"/>
            <a:ext cx="42976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84C"/>
                </a:solidFill>
              </a:defRPr>
            </a:pPr>
            <a:r>
              <a:t>왜 점포 수 ≥ 3?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점포가 1~2개뿐인 지역에서 우연히 높은 매출이 추천점수를 왜곡하는 현상을 줄이기 위한 필터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 dpi="0" rotWithShape="1">
            <a:blip r:embed="rId2">
              <a:alphaModFix amt="51000"/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84C"/>
                </a:solidFill>
              </a:defRPr>
            </a:pPr>
            <a:r>
              <a:rPr dirty="0"/>
              <a:t>6. </a:t>
            </a:r>
            <a:r>
              <a:rPr dirty="0" err="1"/>
              <a:t>소비자</a:t>
            </a:r>
            <a:r>
              <a:rPr dirty="0"/>
              <a:t> </a:t>
            </a:r>
            <a:r>
              <a:rPr dirty="0" err="1"/>
              <a:t>모드</a:t>
            </a:r>
            <a:r>
              <a:rPr dirty="0"/>
              <a:t>: ‘</a:t>
            </a:r>
            <a:r>
              <a:rPr dirty="0" err="1"/>
              <a:t>핫플’은</a:t>
            </a:r>
            <a:r>
              <a:rPr dirty="0"/>
              <a:t> </a:t>
            </a:r>
            <a:r>
              <a:rPr dirty="0" err="1"/>
              <a:t>무엇으로</a:t>
            </a:r>
            <a:r>
              <a:rPr dirty="0"/>
              <a:t> </a:t>
            </a:r>
            <a:r>
              <a:rPr dirty="0" err="1"/>
              <a:t>판단했나</a:t>
            </a:r>
            <a:r>
              <a:rPr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922954"/>
            <a:ext cx="394050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3"/>
                </a:solidFill>
              </a:defRPr>
            </a:pPr>
            <a:r>
              <a:rPr dirty="0" err="1">
                <a:solidFill>
                  <a:schemeClr val="bg1"/>
                </a:solidFill>
                <a:latin typeface="+mn-ea"/>
              </a:rPr>
              <a:t>단순</a:t>
            </a:r>
            <a:r>
              <a:rPr dirty="0">
                <a:solidFill>
                  <a:schemeClr val="bg1"/>
                </a:solidFill>
                <a:latin typeface="+mn-ea"/>
              </a:rPr>
              <a:t> </a:t>
            </a:r>
            <a:r>
              <a:rPr dirty="0" err="1">
                <a:solidFill>
                  <a:schemeClr val="bg1"/>
                </a:solidFill>
                <a:latin typeface="+mn-ea"/>
              </a:rPr>
              <a:t>유동인구보다</a:t>
            </a:r>
            <a:r>
              <a:rPr dirty="0">
                <a:solidFill>
                  <a:schemeClr val="bg1"/>
                </a:solidFill>
                <a:latin typeface="+mn-ea"/>
              </a:rPr>
              <a:t> ‘</a:t>
            </a:r>
            <a:r>
              <a:rPr dirty="0" err="1">
                <a:solidFill>
                  <a:schemeClr val="bg1"/>
                </a:solidFill>
                <a:latin typeface="+mn-ea"/>
              </a:rPr>
              <a:t>누가</a:t>
            </a:r>
            <a:r>
              <a:rPr dirty="0">
                <a:solidFill>
                  <a:schemeClr val="bg1"/>
                </a:solidFill>
                <a:latin typeface="+mn-ea"/>
              </a:rPr>
              <a:t>, </a:t>
            </a:r>
            <a:r>
              <a:rPr dirty="0" err="1">
                <a:solidFill>
                  <a:schemeClr val="bg1"/>
                </a:solidFill>
                <a:latin typeface="+mn-ea"/>
              </a:rPr>
              <a:t>언제</a:t>
            </a:r>
            <a:r>
              <a:rPr dirty="0">
                <a:solidFill>
                  <a:schemeClr val="bg1"/>
                </a:solidFill>
                <a:latin typeface="+mn-ea"/>
              </a:rPr>
              <a:t> </a:t>
            </a:r>
            <a:r>
              <a:rPr dirty="0" err="1">
                <a:solidFill>
                  <a:schemeClr val="bg1"/>
                </a:solidFill>
                <a:latin typeface="+mn-ea"/>
              </a:rPr>
              <a:t>방문하는가’를</a:t>
            </a:r>
            <a:r>
              <a:rPr dirty="0">
                <a:solidFill>
                  <a:schemeClr val="bg1"/>
                </a:solidFill>
                <a:latin typeface="+mn-ea"/>
              </a:rPr>
              <a:t> </a:t>
            </a:r>
            <a:r>
              <a:rPr dirty="0" err="1">
                <a:solidFill>
                  <a:schemeClr val="bg1"/>
                </a:solidFill>
                <a:latin typeface="+mn-ea"/>
              </a:rPr>
              <a:t>함께</a:t>
            </a:r>
            <a:r>
              <a:rPr dirty="0">
                <a:solidFill>
                  <a:schemeClr val="bg1"/>
                </a:solidFill>
                <a:latin typeface="+mn-ea"/>
              </a:rPr>
              <a:t> </a:t>
            </a:r>
            <a:r>
              <a:rPr dirty="0" err="1">
                <a:solidFill>
                  <a:schemeClr val="bg1"/>
                </a:solidFill>
                <a:latin typeface="+mn-ea"/>
              </a:rPr>
              <a:t>반영</a:t>
            </a:r>
            <a:endParaRPr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973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709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868680"/>
          </a:xfrm>
          <a:prstGeom prst="rect">
            <a:avLst/>
          </a:prstGeom>
          <a:solidFill>
            <a:srgbClr val="2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54480"/>
            <a:ext cx="4343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84C"/>
                </a:solidFill>
              </a:defRPr>
            </a:pPr>
            <a:r>
              <a:t>총 유동인구  35%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사람이 얼마나 많은가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96312"/>
            <a:ext cx="4709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496312"/>
            <a:ext cx="73152" cy="868680"/>
          </a:xfrm>
          <a:prstGeom prst="rect">
            <a:avLst/>
          </a:prstGeom>
          <a:solidFill>
            <a:srgbClr val="D9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633472"/>
            <a:ext cx="4343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84C"/>
                </a:solidFill>
              </a:defRPr>
            </a:pPr>
            <a:r>
              <a:t>2030 비율  30%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젊은 방문층 비중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75304"/>
            <a:ext cx="4709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575304"/>
            <a:ext cx="73152" cy="868680"/>
          </a:xfrm>
          <a:prstGeom prst="rect">
            <a:avLst/>
          </a:prstGeom>
          <a:solidFill>
            <a:srgbClr val="F49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712464"/>
            <a:ext cx="4343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84C"/>
                </a:solidFill>
              </a:defRPr>
            </a:pPr>
            <a:r>
              <a:t>주말  20%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토요일 + 일요일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54296"/>
            <a:ext cx="4709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654296"/>
            <a:ext cx="73152" cy="868680"/>
          </a:xfrm>
          <a:prstGeom prst="rect">
            <a:avLst/>
          </a:prstGeom>
          <a:solidFill>
            <a:srgbClr val="17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791456"/>
            <a:ext cx="4343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84C"/>
                </a:solidFill>
              </a:defRPr>
            </a:pPr>
            <a:r>
              <a:t>야간  15%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17~21시 + 21~24시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417320"/>
            <a:ext cx="5394960" cy="1874519"/>
          </a:xfrm>
          <a:prstGeom prst="roundRect">
            <a:avLst/>
          </a:prstGeom>
          <a:solidFill>
            <a:srgbClr val="E7F2F4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0" y="1417320"/>
            <a:ext cx="73152" cy="1874519"/>
          </a:xfrm>
          <a:prstGeom prst="rect">
            <a:avLst/>
          </a:prstGeom>
          <a:solidFill>
            <a:srgbClr val="D9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44768" y="1554480"/>
            <a:ext cx="5029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t>핫플 판단의 핵심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</a:defRPr>
            </a:pPr>
            <a:r>
              <a:t>총 방문량 35% + 2030 30% + 주말 20% + 야간 15%</a:t>
            </a:r>
            <a:br/>
            <a:br/>
            <a:r>
              <a:t>→ ‘평일 낮에만 붐비는 곳’과 ‘젊은층이 주말·밤에도 찾는 곳’을 구분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566160"/>
            <a:ext cx="5394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0" y="3566160"/>
            <a:ext cx="73152" cy="1508760"/>
          </a:xfrm>
          <a:prstGeom prst="rect">
            <a:avLst/>
          </a:prstGeom>
          <a:solidFill>
            <a:srgbClr val="2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44768" y="37033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84C"/>
                </a:solidFill>
              </a:defRPr>
            </a:pPr>
            <a:r>
              <a:t>서비스 결과</a:t>
            </a:r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t>TOP 20 지도 → 지역별 인기 업종 → TOP 10 역 상세</a:t>
            </a:r>
            <a:br/>
            <a:r>
              <a:t>선택한 역의 점수·총 유동인구·2030·주말·야간 지표를 즉시 비교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>
            <a:extLst>
              <a:ext uri="{FF2B5EF4-FFF2-40B4-BE49-F238E27FC236}">
                <a16:creationId xmlns:a16="http://schemas.microsoft.com/office/drawing/2014/main" id="{F31070FB-40D0-4777-AC6F-51EA72197D8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 dpi="0" rotWithShape="1">
            <a:blip r:embed="rId2">
              <a:alphaModFix amt="51000"/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84C"/>
                </a:solidFill>
              </a:defRPr>
            </a:pPr>
            <a:r>
              <a:t>7. 진짜 머신러닝은 ‘월매출 예측’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46313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3"/>
                </a:solidFill>
              </a:defRPr>
            </a:pPr>
            <a:r>
              <a:rPr dirty="0">
                <a:solidFill>
                  <a:schemeClr val="bg1"/>
                </a:solidFill>
                <a:latin typeface="+mn-ea"/>
              </a:rPr>
              <a:t>Random </a:t>
            </a:r>
            <a:r>
              <a:rPr dirty="0" err="1">
                <a:solidFill>
                  <a:schemeClr val="bg1"/>
                </a:solidFill>
                <a:latin typeface="+mn-ea"/>
              </a:rPr>
              <a:t>Forest가</a:t>
            </a:r>
            <a:r>
              <a:rPr dirty="0">
                <a:solidFill>
                  <a:schemeClr val="bg1"/>
                </a:solidFill>
                <a:latin typeface="+mn-ea"/>
              </a:rPr>
              <a:t> </a:t>
            </a:r>
            <a:r>
              <a:rPr dirty="0" err="1">
                <a:solidFill>
                  <a:schemeClr val="bg1"/>
                </a:solidFill>
                <a:latin typeface="+mn-ea"/>
              </a:rPr>
              <a:t>상권·업종</a:t>
            </a:r>
            <a:r>
              <a:rPr dirty="0">
                <a:solidFill>
                  <a:schemeClr val="bg1"/>
                </a:solidFill>
                <a:latin typeface="+mn-ea"/>
              </a:rPr>
              <a:t> </a:t>
            </a:r>
            <a:r>
              <a:rPr dirty="0" err="1">
                <a:solidFill>
                  <a:schemeClr val="bg1"/>
                </a:solidFill>
                <a:latin typeface="+mn-ea"/>
              </a:rPr>
              <a:t>특성을</a:t>
            </a:r>
            <a:r>
              <a:rPr dirty="0">
                <a:solidFill>
                  <a:schemeClr val="bg1"/>
                </a:solidFill>
                <a:latin typeface="+mn-ea"/>
              </a:rPr>
              <a:t> </a:t>
            </a:r>
            <a:r>
              <a:rPr dirty="0" err="1">
                <a:solidFill>
                  <a:schemeClr val="bg1"/>
                </a:solidFill>
                <a:latin typeface="+mn-ea"/>
              </a:rPr>
              <a:t>학습해</a:t>
            </a:r>
            <a:r>
              <a:rPr dirty="0">
                <a:solidFill>
                  <a:schemeClr val="bg1"/>
                </a:solidFill>
                <a:latin typeface="+mn-ea"/>
              </a:rPr>
              <a:t> </a:t>
            </a:r>
            <a:r>
              <a:rPr dirty="0" err="1">
                <a:solidFill>
                  <a:schemeClr val="bg1"/>
                </a:solidFill>
                <a:latin typeface="+mn-ea"/>
              </a:rPr>
              <a:t>점포당</a:t>
            </a:r>
            <a:r>
              <a:rPr dirty="0">
                <a:solidFill>
                  <a:schemeClr val="bg1"/>
                </a:solidFill>
                <a:latin typeface="+mn-ea"/>
              </a:rPr>
              <a:t> </a:t>
            </a:r>
            <a:r>
              <a:rPr dirty="0" err="1">
                <a:solidFill>
                  <a:schemeClr val="bg1"/>
                </a:solidFill>
                <a:latin typeface="+mn-ea"/>
              </a:rPr>
              <a:t>월매출을</a:t>
            </a:r>
            <a:r>
              <a:rPr dirty="0">
                <a:solidFill>
                  <a:schemeClr val="bg1"/>
                </a:solidFill>
                <a:latin typeface="+mn-ea"/>
              </a:rPr>
              <a:t> </a:t>
            </a:r>
            <a:r>
              <a:rPr dirty="0" err="1">
                <a:solidFill>
                  <a:schemeClr val="bg1"/>
                </a:solidFill>
                <a:latin typeface="+mn-ea"/>
              </a:rPr>
              <a:t>예측</a:t>
            </a:r>
            <a:endParaRPr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973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1089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3520440"/>
          </a:xfrm>
          <a:prstGeom prst="rect">
            <a:avLst/>
          </a:prstGeom>
          <a:solidFill>
            <a:srgbClr val="2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54480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384C"/>
                </a:solidFill>
              </a:defRPr>
            </a:pPr>
            <a:r>
              <a:t>입력 X</a:t>
            </a:r>
          </a:p>
          <a:p>
            <a:pPr>
              <a:spcBef>
                <a:spcPts val="600"/>
              </a:spcBef>
              <a:defRPr sz="1500">
                <a:solidFill>
                  <a:srgbClr val="1F2937"/>
                </a:solidFill>
              </a:defRPr>
            </a:pPr>
            <a:r>
              <a:t>• 총 유동인구</a:t>
            </a:r>
            <a:br/>
            <a:r>
              <a:t>• 2030 비율</a:t>
            </a:r>
            <a:br/>
            <a:r>
              <a:t>• 점포 수</a:t>
            </a:r>
            <a:br/>
            <a:r>
              <a:t>• 폐업비율</a:t>
            </a:r>
            <a:br/>
            <a:r>
              <a:t>• 서비스 업종</a:t>
            </a:r>
            <a:br/>
            <a:r>
              <a:t>• 상권 이름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3154680"/>
            <a:ext cx="731520" cy="0"/>
          </a:xfrm>
          <a:prstGeom prst="line">
            <a:avLst/>
          </a:prstGeom>
          <a:ln w="27940">
            <a:solidFill>
              <a:srgbClr val="2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17720" y="1920240"/>
            <a:ext cx="2926080" cy="2468880"/>
          </a:xfrm>
          <a:prstGeom prst="roundRect">
            <a:avLst/>
          </a:prstGeom>
          <a:solidFill>
            <a:srgbClr val="E7F2F4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920240"/>
            <a:ext cx="73152" cy="2468880"/>
          </a:xfrm>
          <a:prstGeom prst="rect">
            <a:avLst/>
          </a:prstGeom>
          <a:solidFill>
            <a:srgbClr val="F49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18888" y="2057400"/>
            <a:ext cx="25603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384C"/>
                </a:solidFill>
              </a:defRPr>
            </a:pPr>
            <a:r>
              <a:t>🌲 Random Forest</a:t>
            </a:r>
          </a:p>
          <a:p>
            <a:pPr>
              <a:spcBef>
                <a:spcPts val="600"/>
              </a:spcBef>
              <a:defRPr sz="1400">
                <a:solidFill>
                  <a:srgbClr val="1F2937"/>
                </a:solidFill>
              </a:defRPr>
            </a:pPr>
            <a:r>
              <a:t>여러 결정트리의 예측을 결합</a:t>
            </a:r>
            <a:br/>
            <a:r>
              <a:t>범주형 변수는 One-Hot Encoding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89520" y="3154680"/>
            <a:ext cx="731520" cy="0"/>
          </a:xfrm>
          <a:prstGeom prst="line">
            <a:avLst/>
          </a:prstGeom>
          <a:ln w="27940">
            <a:solidFill>
              <a:srgbClr val="2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66760" y="1920240"/>
            <a:ext cx="3108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66760" y="1920240"/>
            <a:ext cx="73152" cy="2468880"/>
          </a:xfrm>
          <a:prstGeom prst="rect">
            <a:avLst/>
          </a:prstGeom>
          <a:solidFill>
            <a:srgbClr val="D9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67928" y="2057400"/>
            <a:ext cx="27432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384C"/>
                </a:solidFill>
              </a:defRPr>
            </a:pPr>
            <a:r>
              <a:t>출력 y</a:t>
            </a:r>
          </a:p>
          <a:p>
            <a:pPr>
              <a:spcBef>
                <a:spcPts val="600"/>
              </a:spcBef>
              <a:defRPr sz="1400">
                <a:solidFill>
                  <a:srgbClr val="1F2937"/>
                </a:solidFill>
              </a:defRPr>
            </a:pPr>
            <a:r>
              <a:t>점포당 예상 월매출</a:t>
            </a:r>
            <a:br/>
            <a:br/>
            <a:r>
              <a:t>Streamlit에서</a:t>
            </a:r>
            <a:br/>
            <a:r>
              <a:t>AI_예상_월매출로 표시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">
            <a:extLst>
              <a:ext uri="{FF2B5EF4-FFF2-40B4-BE49-F238E27FC236}">
                <a16:creationId xmlns:a16="http://schemas.microsoft.com/office/drawing/2014/main" id="{7623C748-C715-4346-AB7B-5CA5621626A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 dpi="0" rotWithShape="1">
            <a:blip r:embed="rId2">
              <a:alphaModFix amt="51000"/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84C"/>
                </a:solidFill>
              </a:defRPr>
            </a:pPr>
            <a:r>
              <a:t>8. 모델은 어떻게 개선했나?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450956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3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초기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모델의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낮은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성능을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확인하고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업종·상권·극단값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처리를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추가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973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1417320"/>
          </a:xfrm>
          <a:prstGeom prst="rect">
            <a:avLst/>
          </a:prstGeom>
          <a:solidFill>
            <a:srgbClr val="D9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087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t>초기 모델</a:t>
            </a:r>
          </a:p>
          <a:p>
            <a:pPr>
              <a:spcBef>
                <a:spcPts val="600"/>
              </a:spcBef>
              <a:defRPr sz="1400">
                <a:solidFill>
                  <a:srgbClr val="1F2937"/>
                </a:solidFill>
              </a:defRPr>
            </a:pPr>
            <a:r>
              <a:t>숫자 변수 중심</a:t>
            </a:r>
            <a:br/>
            <a:r>
              <a:t>R² = -0.1358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2084831"/>
            <a:ext cx="502920" cy="0"/>
          </a:xfrm>
          <a:prstGeom prst="line">
            <a:avLst/>
          </a:prstGeom>
          <a:ln w="27940">
            <a:solidFill>
              <a:srgbClr val="2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80560" y="1371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371600"/>
            <a:ext cx="73152" cy="1417320"/>
          </a:xfrm>
          <a:prstGeom prst="rect">
            <a:avLst/>
          </a:prstGeom>
          <a:solidFill>
            <a:srgbClr val="2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5087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t>개선 모델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</a:defRPr>
            </a:pPr>
            <a:r>
              <a:t>업종 + 상권 + One-Hot</a:t>
            </a:r>
            <a:br/>
            <a:r>
              <a:t>상위 1% 극단값 제거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26679" y="2084831"/>
            <a:ext cx="502921" cy="0"/>
          </a:xfrm>
          <a:prstGeom prst="line">
            <a:avLst/>
          </a:prstGeom>
          <a:ln w="27940">
            <a:solidFill>
              <a:srgbClr val="2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75320" y="1371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371600"/>
            <a:ext cx="73152" cy="1417320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15087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t>시간 검증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</a:defRPr>
            </a:pPr>
            <a:r>
              <a:t>Q1~Q3 학습 → Q4 테스트</a:t>
            </a:r>
            <a:br/>
            <a:r>
              <a:t>R² = 0.5227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703320"/>
            <a:ext cx="2926080" cy="1234440"/>
          </a:xfrm>
          <a:prstGeom prst="roundRect">
            <a:avLst/>
          </a:prstGeom>
          <a:solidFill>
            <a:srgbClr val="E7F2F4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51560" y="3703320"/>
            <a:ext cx="73152" cy="1234440"/>
          </a:xfrm>
          <a:prstGeom prst="rect">
            <a:avLst/>
          </a:prstGeom>
          <a:solidFill>
            <a:srgbClr val="2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2728" y="38404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t>MAE</a:t>
            </a:r>
          </a:p>
          <a:p>
            <a:pPr>
              <a:spcBef>
                <a:spcPts val="600"/>
              </a:spcBef>
              <a:defRPr sz="1900">
                <a:solidFill>
                  <a:srgbClr val="1F2937"/>
                </a:solidFill>
              </a:defRPr>
            </a:pPr>
            <a:r>
              <a:t>14,704,847원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3703320"/>
            <a:ext cx="2926080" cy="1234440"/>
          </a:xfrm>
          <a:prstGeom prst="roundRect">
            <a:avLst/>
          </a:prstGeom>
          <a:solidFill>
            <a:srgbClr val="E7F2F4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17720" y="3703320"/>
            <a:ext cx="73152" cy="1234440"/>
          </a:xfrm>
          <a:prstGeom prst="rect">
            <a:avLst/>
          </a:prstGeom>
          <a:solidFill>
            <a:srgbClr val="F49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18888" y="38404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t>RMSE</a:t>
            </a:r>
          </a:p>
          <a:p>
            <a:pPr>
              <a:spcBef>
                <a:spcPts val="600"/>
              </a:spcBef>
              <a:defRPr sz="1900">
                <a:solidFill>
                  <a:srgbClr val="1F2937"/>
                </a:solidFill>
              </a:defRPr>
            </a:pPr>
            <a:r>
              <a:t>25,795,030원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3703320"/>
            <a:ext cx="2926080" cy="1234440"/>
          </a:xfrm>
          <a:prstGeom prst="roundRect">
            <a:avLst/>
          </a:prstGeom>
          <a:solidFill>
            <a:srgbClr val="E7F2F4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83879" y="3703320"/>
            <a:ext cx="73152" cy="1234440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85048" y="38404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t>R²</a:t>
            </a:r>
          </a:p>
          <a:p>
            <a:pPr>
              <a:spcBef>
                <a:spcPts val="600"/>
              </a:spcBef>
              <a:defRPr sz="2200">
                <a:solidFill>
                  <a:srgbClr val="1F2937"/>
                </a:solidFill>
              </a:defRPr>
            </a:pPr>
            <a:r>
              <a:t>0.5227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7384C"/>
                </a:solidFill>
              </a:defRPr>
            </a:pPr>
            <a:r>
              <a:t>R² 0.5227은 ‘52.27% 정확도’가 아니라, Q4 테스트 데이터의 매출 변동을 모델이 약 52.3% 설명했다는 뜻입니다.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84C"/>
                </a:solidFill>
              </a:defRPr>
            </a:pPr>
            <a:r>
              <a:t>9. AI 예측은 어디까지 믿어야 하나?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3"/>
                </a:solidFill>
              </a:defRPr>
            </a:pPr>
            <a:r>
              <a:t>예측값의 의미와 한계를 함께 제시해야 서비스가 더 정확해집니다.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973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1234440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08760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84C"/>
                </a:solidFill>
              </a:defRPr>
            </a:pPr>
            <a:r>
              <a:t>✅ AI가 하는 판단</a:t>
            </a:r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t>유동인구·2030·점포·폐업비율 + 업종·상권의 과거 패턴을 학습해 ‘점포당 월매출’을 추정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73152" cy="1234440"/>
          </a:xfrm>
          <a:prstGeom prst="rect">
            <a:avLst/>
          </a:prstGeom>
          <a:solidFill>
            <a:srgbClr val="D9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508760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84C"/>
                </a:solidFill>
              </a:defRPr>
            </a:pPr>
            <a:r>
              <a:t>❌ AI가 직접 판단하지 않는 것</a:t>
            </a:r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t>창업추천점수와 핫플점수는 Random Forest가 만든 점수가 아니라 사람이 정한 가중치 규칙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80360"/>
            <a:ext cx="5257800" cy="1417320"/>
          </a:xfrm>
          <a:prstGeom prst="roundRect">
            <a:avLst/>
          </a:prstGeom>
          <a:solidFill>
            <a:srgbClr val="E7F2F4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880360"/>
            <a:ext cx="73152" cy="1417320"/>
          </a:xfrm>
          <a:prstGeom prst="rect">
            <a:avLst/>
          </a:prstGeom>
          <a:solidFill>
            <a:srgbClr val="2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84C"/>
                </a:solidFill>
              </a:defRPr>
            </a:pPr>
            <a:r>
              <a:t>예측 범위</a:t>
            </a:r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t>학습 데이터와 비슷한 서울 상권·업종 조합의 월매출 추정에 적합</a:t>
            </a:r>
            <a:br/>
            <a:r>
              <a:t>특히 2025년 Q4를 별도 테스트로 검증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80360"/>
            <a:ext cx="5257800" cy="1417320"/>
          </a:xfrm>
          <a:prstGeom prst="roundRect">
            <a:avLst/>
          </a:prstGeom>
          <a:solidFill>
            <a:srgbClr val="E7F2F4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2880360"/>
            <a:ext cx="73152" cy="1417320"/>
          </a:xfrm>
          <a:prstGeom prst="rect">
            <a:avLst/>
          </a:prstGeom>
          <a:solidFill>
            <a:srgbClr val="F49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301752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84C"/>
                </a:solidFill>
              </a:defRPr>
            </a:pPr>
            <a:r>
              <a:t>주의할 점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극단 매출 상위 1%를 제거해 학습했기 때문에 초고매출 상권은 낮게 예측될 수 있음</a:t>
            </a:r>
            <a:br/>
            <a:r>
              <a:t>외부 경기·임대료·이벤트 등은 현재 모델 입력에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63440"/>
            <a:ext cx="10789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663440"/>
            <a:ext cx="73152" cy="960120"/>
          </a:xfrm>
          <a:prstGeom prst="rect">
            <a:avLst/>
          </a:prstGeom>
          <a:solidFill>
            <a:srgbClr val="17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48006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384C"/>
                </a:solidFill>
              </a:defRPr>
            </a:pPr>
            <a:r>
              <a:t>서비스에서의 올바른 표현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</a:defRPr>
            </a:pPr>
            <a:r>
              <a:t>“정답 매출”이 아니라 ‘데이터 기반 예상 월매출’로 보여주고, 추천점수와 함께 참고 지표로 사용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84C"/>
                </a:solidFill>
              </a:defRPr>
            </a:pPr>
            <a:r>
              <a:t>10. 분석을 서비스로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3"/>
                </a:solidFill>
              </a:defRPr>
            </a:pPr>
            <a:r>
              <a:t>Streamlit에서 같은 데이터로 사용자 목적에 따라 다른 화면 제공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973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166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3474720"/>
          </a:xfrm>
          <a:prstGeom prst="rect">
            <a:avLst/>
          </a:prstGeom>
          <a:solidFill>
            <a:srgbClr val="2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08760"/>
            <a:ext cx="4800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384C"/>
                </a:solidFill>
              </a:defRPr>
            </a:pPr>
            <a:r>
              <a:rPr dirty="0"/>
              <a:t>👔 </a:t>
            </a:r>
            <a:r>
              <a:rPr dirty="0" err="1"/>
              <a:t>사장님</a:t>
            </a:r>
            <a:r>
              <a:rPr dirty="0"/>
              <a:t> </a:t>
            </a:r>
            <a:r>
              <a:rPr dirty="0" err="1"/>
              <a:t>모드</a:t>
            </a:r>
            <a:endParaRPr dirty="0"/>
          </a:p>
          <a:p>
            <a:pPr>
              <a:spcBef>
                <a:spcPts val="600"/>
              </a:spcBef>
              <a:defRPr sz="15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Bef>
                <a:spcPts val="600"/>
              </a:spcBef>
              <a:defRPr sz="1500">
                <a:solidFill>
                  <a:srgbClr val="1F2937"/>
                </a:solidFill>
              </a:defRPr>
            </a:pPr>
            <a:r>
              <a:rPr dirty="0" err="1"/>
              <a:t>업종</a:t>
            </a:r>
            <a:r>
              <a:rPr dirty="0"/>
              <a:t> </a:t>
            </a:r>
            <a:r>
              <a:rPr dirty="0" err="1"/>
              <a:t>선택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 err="1"/>
              <a:t>창업</a:t>
            </a:r>
            <a:r>
              <a:rPr dirty="0"/>
              <a:t> </a:t>
            </a:r>
            <a:r>
              <a:rPr dirty="0" err="1"/>
              <a:t>추천</a:t>
            </a:r>
            <a:r>
              <a:rPr dirty="0"/>
              <a:t> TOP 10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 err="1"/>
              <a:t>추천점수</a:t>
            </a:r>
            <a:r>
              <a:rPr dirty="0"/>
              <a:t> +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월매출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/>
              <a:t>AI </a:t>
            </a:r>
            <a:r>
              <a:rPr dirty="0" err="1"/>
              <a:t>예상</a:t>
            </a:r>
            <a:r>
              <a:rPr dirty="0"/>
              <a:t> </a:t>
            </a:r>
            <a:r>
              <a:rPr dirty="0" err="1"/>
              <a:t>월매출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 err="1"/>
              <a:t>지도</a:t>
            </a:r>
            <a:r>
              <a:rPr dirty="0"/>
              <a:t> </a:t>
            </a:r>
            <a:r>
              <a:rPr dirty="0" err="1"/>
              <a:t>비교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66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73152" cy="3474720"/>
          </a:xfrm>
          <a:prstGeom prst="rect">
            <a:avLst/>
          </a:prstGeom>
          <a:solidFill>
            <a:srgbClr val="D9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508760"/>
            <a:ext cx="4800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384C"/>
                </a:solidFill>
              </a:defRPr>
            </a:pPr>
            <a:r>
              <a:rPr dirty="0"/>
              <a:t>🔥 </a:t>
            </a:r>
            <a:r>
              <a:rPr dirty="0" err="1"/>
              <a:t>소비자</a:t>
            </a:r>
            <a:r>
              <a:rPr dirty="0"/>
              <a:t> </a:t>
            </a:r>
            <a:r>
              <a:rPr dirty="0" err="1"/>
              <a:t>모드</a:t>
            </a:r>
            <a:endParaRPr dirty="0"/>
          </a:p>
          <a:p>
            <a:pPr>
              <a:spcBef>
                <a:spcPts val="600"/>
              </a:spcBef>
              <a:defRPr sz="15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Bef>
                <a:spcPts val="600"/>
              </a:spcBef>
              <a:defRPr sz="1500">
                <a:solidFill>
                  <a:srgbClr val="1F2937"/>
                </a:solidFill>
              </a:defRPr>
            </a:pPr>
            <a:r>
              <a:rPr dirty="0" err="1"/>
              <a:t>핫플</a:t>
            </a:r>
            <a:r>
              <a:rPr dirty="0"/>
              <a:t> TOP 20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 err="1"/>
              <a:t>지도</a:t>
            </a:r>
            <a:r>
              <a:rPr dirty="0"/>
              <a:t> </a:t>
            </a:r>
            <a:r>
              <a:rPr dirty="0" err="1"/>
              <a:t>탐색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 err="1"/>
              <a:t>지역별</a:t>
            </a:r>
            <a:r>
              <a:rPr dirty="0"/>
              <a:t> </a:t>
            </a:r>
            <a:r>
              <a:rPr dirty="0" err="1"/>
              <a:t>인기</a:t>
            </a:r>
            <a:r>
              <a:rPr dirty="0"/>
              <a:t> </a:t>
            </a:r>
            <a:r>
              <a:rPr dirty="0" err="1"/>
              <a:t>업종</a:t>
            </a:r>
            <a:r>
              <a:rPr dirty="0"/>
              <a:t> TOP 10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/>
              <a:t>TOP 10 역 </a:t>
            </a:r>
            <a:r>
              <a:rPr dirty="0" err="1"/>
              <a:t>드롭다운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/>
              <a:t>주말·야간·2030 </a:t>
            </a:r>
            <a:r>
              <a:rPr dirty="0" err="1"/>
              <a:t>상세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2743200" y="5166360"/>
            <a:ext cx="67208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5257800"/>
            <a:ext cx="6355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Streamlit에서 최종 모델 불러오기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5550408"/>
            <a:ext cx="63185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ai_model = joblib.load("models/final_sales_model.pkl")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13639E4-CE25-4A26-AA5A-136C11290B57}"/>
              </a:ext>
            </a:extLst>
          </p:cNvPr>
          <p:cNvSpPr/>
          <p:nvPr/>
        </p:nvSpPr>
        <p:spPr>
          <a:xfrm>
            <a:off x="3512058" y="1713548"/>
            <a:ext cx="2049018" cy="27908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C738C9-1C53-4B29-936D-3C1461886BA5}"/>
              </a:ext>
            </a:extLst>
          </p:cNvPr>
          <p:cNvSpPr/>
          <p:nvPr/>
        </p:nvSpPr>
        <p:spPr>
          <a:xfrm>
            <a:off x="9085859" y="1713548"/>
            <a:ext cx="2081327" cy="279082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84C"/>
                </a:solidFill>
              </a:defRPr>
            </a:pPr>
            <a:r>
              <a:t>11. 프로젝트 핵심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3"/>
                </a:solidFill>
              </a:defRPr>
            </a:pPr>
            <a:r>
              <a:t>데이터를 ‘보는 것’에서 끝내지 않고 실제 선택을 돕는 서비스로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973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2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54480"/>
            <a:ext cx="288036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384C"/>
                </a:solidFill>
              </a:defRPr>
            </a:pPr>
            <a:r>
              <a:rPr dirty="0"/>
              <a:t>DATA</a:t>
            </a:r>
          </a:p>
          <a:p>
            <a:pPr>
              <a:spcBef>
                <a:spcPts val="600"/>
              </a:spcBef>
              <a:defRPr sz="1400">
                <a:solidFill>
                  <a:srgbClr val="1F2937"/>
                </a:solidFill>
              </a:defRPr>
            </a:pP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공공데이터를</a:t>
            </a:r>
            <a:br>
              <a:rPr dirty="0"/>
            </a:br>
            <a:r>
              <a:rPr dirty="0" err="1"/>
              <a:t>상권·업종·분기</a:t>
            </a:r>
            <a:r>
              <a:rPr dirty="0"/>
              <a:t> </a:t>
            </a:r>
            <a:r>
              <a:rPr dirty="0" err="1"/>
              <a:t>기준으로</a:t>
            </a:r>
            <a:r>
              <a:rPr dirty="0"/>
              <a:t> </a:t>
            </a:r>
            <a:r>
              <a:rPr dirty="0" err="1"/>
              <a:t>통합</a:t>
            </a:r>
            <a:endParaRPr lang="en-US" dirty="0"/>
          </a:p>
          <a:p>
            <a:pPr>
              <a:spcBef>
                <a:spcPts val="600"/>
              </a:spcBef>
              <a:defRPr sz="14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Bef>
                <a:spcPts val="600"/>
              </a:spcBef>
              <a:defRPr sz="1400">
                <a:solidFill>
                  <a:srgbClr val="1F2937"/>
                </a:solidFill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73152" cy="1828800"/>
          </a:xfrm>
          <a:prstGeom prst="rect">
            <a:avLst/>
          </a:prstGeom>
          <a:solidFill>
            <a:srgbClr val="D9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554480"/>
            <a:ext cx="2880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384C"/>
                </a:solidFill>
              </a:defRPr>
            </a:pPr>
            <a:r>
              <a:t>RULE</a:t>
            </a:r>
          </a:p>
          <a:p>
            <a:pPr>
              <a:spcBef>
                <a:spcPts val="600"/>
              </a:spcBef>
              <a:defRPr sz="1400">
                <a:solidFill>
                  <a:srgbClr val="1F2937"/>
                </a:solidFill>
              </a:defRPr>
            </a:pPr>
            <a:r>
              <a:t>창업과 핫플 목적에 맞는</a:t>
            </a:r>
            <a:br/>
            <a:r>
              <a:t>별도 가중치 점수 설계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73152" cy="1828800"/>
          </a:xfrm>
          <a:prstGeom prst="rect">
            <a:avLst/>
          </a:prstGeom>
          <a:solidFill>
            <a:srgbClr val="F49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1554480"/>
            <a:ext cx="2880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384C"/>
                </a:solidFill>
              </a:defRPr>
            </a:pPr>
            <a:r>
              <a:t>AI</a:t>
            </a:r>
          </a:p>
          <a:p>
            <a:pPr>
              <a:spcBef>
                <a:spcPts val="600"/>
              </a:spcBef>
              <a:defRPr sz="1400">
                <a:solidFill>
                  <a:srgbClr val="1F2937"/>
                </a:solidFill>
              </a:defRPr>
            </a:pPr>
            <a:r>
              <a:t>Random Forest로</a:t>
            </a:r>
            <a:br/>
            <a:r>
              <a:t>점포당 월매출 예측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73581"/>
            <a:ext cx="10149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7384C"/>
                </a:solidFill>
              </a:defRPr>
            </a:pPr>
            <a:r>
              <a:rPr dirty="0" err="1"/>
              <a:t>서울</a:t>
            </a:r>
            <a:r>
              <a:rPr dirty="0"/>
              <a:t>, </a:t>
            </a:r>
            <a:r>
              <a:rPr dirty="0" err="1"/>
              <a:t>어디서</a:t>
            </a:r>
            <a:r>
              <a:rPr dirty="0"/>
              <a:t> </a:t>
            </a:r>
            <a:r>
              <a:rPr dirty="0" err="1"/>
              <a:t>놀고</a:t>
            </a:r>
            <a:r>
              <a:rPr dirty="0"/>
              <a:t> </a:t>
            </a:r>
            <a:r>
              <a:rPr dirty="0" err="1"/>
              <a:t>어디서</a:t>
            </a:r>
            <a:r>
              <a:rPr dirty="0"/>
              <a:t> </a:t>
            </a:r>
            <a:r>
              <a:rPr dirty="0" err="1"/>
              <a:t>벌까</a:t>
            </a:r>
            <a:r>
              <a:rPr dirty="0"/>
              <a:t>?</a:t>
            </a:r>
          </a:p>
          <a:p>
            <a:pPr algn="ctr">
              <a:spcBef>
                <a:spcPts val="1200"/>
              </a:spcBef>
              <a:defRPr sz="1600">
                <a:solidFill>
                  <a:srgbClr val="2F6F73"/>
                </a:solidFill>
              </a:defRPr>
            </a:pPr>
            <a:r>
              <a:rPr dirty="0" err="1"/>
              <a:t>소비자에게는</a:t>
            </a:r>
            <a:r>
              <a:rPr dirty="0"/>
              <a:t> ‘놀 </a:t>
            </a:r>
            <a:r>
              <a:rPr dirty="0" err="1"/>
              <a:t>곳’을</a:t>
            </a:r>
            <a:r>
              <a:rPr dirty="0"/>
              <a:t>, </a:t>
            </a:r>
            <a:r>
              <a:rPr dirty="0" err="1"/>
              <a:t>창업자에게는</a:t>
            </a:r>
            <a:r>
              <a:rPr dirty="0"/>
              <a:t> ‘벌 </a:t>
            </a:r>
            <a:r>
              <a:rPr dirty="0" err="1"/>
              <a:t>곳’을</a:t>
            </a:r>
            <a:r>
              <a:rPr dirty="0"/>
              <a:t> —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도시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질문으로</a:t>
            </a:r>
            <a:r>
              <a:rPr dirty="0"/>
              <a:t> </a:t>
            </a:r>
            <a:r>
              <a:rPr dirty="0" err="1"/>
              <a:t>해석한</a:t>
            </a:r>
            <a:r>
              <a:rPr dirty="0"/>
              <a:t> </a:t>
            </a:r>
            <a:r>
              <a:rPr dirty="0" err="1"/>
              <a:t>프로젝트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1CAAAF-A6C5-445F-938C-5F41A6AA8B66}"/>
              </a:ext>
            </a:extLst>
          </p:cNvPr>
          <p:cNvSpPr txBox="1"/>
          <p:nvPr/>
        </p:nvSpPr>
        <p:spPr>
          <a:xfrm>
            <a:off x="619252" y="5632450"/>
            <a:ext cx="77048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17384C"/>
                </a:solidFill>
              </a:rPr>
              <a:t>데이터 출처</a:t>
            </a:r>
            <a:r>
              <a:rPr lang="en-US" altLang="ko-KR" sz="1000" b="1" dirty="0">
                <a:solidFill>
                  <a:srgbClr val="17384C"/>
                </a:solidFill>
              </a:rPr>
              <a:t>:</a:t>
            </a:r>
            <a:r>
              <a:rPr lang="ko-KR" altLang="en-US" sz="1000" dirty="0">
                <a:solidFill>
                  <a:srgbClr val="17384C"/>
                </a:solidFill>
              </a:rPr>
              <a:t> 서울특별시 서울 </a:t>
            </a:r>
            <a:r>
              <a:rPr lang="ko-KR" altLang="en-US" sz="1000" dirty="0" err="1">
                <a:solidFill>
                  <a:srgbClr val="17384C"/>
                </a:solidFill>
              </a:rPr>
              <a:t>열린데이터광장</a:t>
            </a:r>
            <a:r>
              <a:rPr lang="ko-KR" altLang="en-US" sz="1000" dirty="0">
                <a:solidFill>
                  <a:srgbClr val="17384C"/>
                </a:solidFill>
              </a:rPr>
              <a:t> 「서울시 상권분석서비스」</a:t>
            </a:r>
            <a:br>
              <a:rPr lang="ko-KR" altLang="en-US" sz="1000" dirty="0">
                <a:solidFill>
                  <a:srgbClr val="17384C"/>
                </a:solidFill>
              </a:rPr>
            </a:br>
            <a:r>
              <a:rPr lang="ko-KR" altLang="en-US" sz="1000" b="1" dirty="0">
                <a:solidFill>
                  <a:srgbClr val="17384C"/>
                </a:solidFill>
              </a:rPr>
              <a:t>제공기관</a:t>
            </a:r>
            <a:r>
              <a:rPr lang="en-US" altLang="ko-KR" sz="1000" b="1" dirty="0">
                <a:solidFill>
                  <a:srgbClr val="17384C"/>
                </a:solidFill>
              </a:rPr>
              <a:t>:</a:t>
            </a:r>
            <a:r>
              <a:rPr lang="ko-KR" altLang="en-US" sz="1000" dirty="0">
                <a:solidFill>
                  <a:srgbClr val="17384C"/>
                </a:solidFill>
              </a:rPr>
              <a:t> 서울신용보증재단</a:t>
            </a:r>
            <a:br>
              <a:rPr lang="ko-KR" altLang="en-US" sz="1000" dirty="0">
                <a:solidFill>
                  <a:srgbClr val="17384C"/>
                </a:solidFill>
              </a:rPr>
            </a:br>
            <a:r>
              <a:rPr lang="ko-KR" altLang="en-US" sz="1000" b="1" dirty="0">
                <a:solidFill>
                  <a:srgbClr val="17384C"/>
                </a:solidFill>
              </a:rPr>
              <a:t>활용 데이터</a:t>
            </a:r>
            <a:r>
              <a:rPr lang="en-US" altLang="ko-KR" sz="1000" b="1" dirty="0">
                <a:solidFill>
                  <a:srgbClr val="17384C"/>
                </a:solidFill>
              </a:rPr>
              <a:t>:</a:t>
            </a:r>
            <a:r>
              <a:rPr lang="ko-KR" altLang="en-US" sz="1000" dirty="0">
                <a:solidFill>
                  <a:srgbClr val="17384C"/>
                </a:solidFill>
              </a:rPr>
              <a:t> 추정매출</a:t>
            </a:r>
            <a:r>
              <a:rPr lang="en-US" altLang="ko-KR" sz="1000" dirty="0">
                <a:solidFill>
                  <a:srgbClr val="17384C"/>
                </a:solidFill>
              </a:rPr>
              <a:t>, </a:t>
            </a:r>
            <a:r>
              <a:rPr lang="ko-KR" altLang="en-US" sz="1000" dirty="0">
                <a:solidFill>
                  <a:srgbClr val="17384C"/>
                </a:solidFill>
              </a:rPr>
              <a:t>점포</a:t>
            </a:r>
            <a:r>
              <a:rPr lang="en-US" altLang="ko-KR" sz="1000" dirty="0">
                <a:solidFill>
                  <a:srgbClr val="17384C"/>
                </a:solidFill>
              </a:rPr>
              <a:t>, </a:t>
            </a:r>
            <a:r>
              <a:rPr lang="ko-KR" altLang="en-US" sz="1000" dirty="0">
                <a:solidFill>
                  <a:srgbClr val="17384C"/>
                </a:solidFill>
              </a:rPr>
              <a:t>길단위인구</a:t>
            </a:r>
            <a:r>
              <a:rPr lang="en-US" altLang="ko-KR" sz="1000" dirty="0">
                <a:solidFill>
                  <a:srgbClr val="17384C"/>
                </a:solidFill>
              </a:rPr>
              <a:t>(</a:t>
            </a:r>
            <a:r>
              <a:rPr lang="ko-KR" altLang="en-US" sz="1000" dirty="0">
                <a:solidFill>
                  <a:srgbClr val="17384C"/>
                </a:solidFill>
              </a:rPr>
              <a:t>유동인구</a:t>
            </a:r>
            <a:r>
              <a:rPr lang="en-US" altLang="ko-KR" sz="1000" dirty="0">
                <a:solidFill>
                  <a:srgbClr val="17384C"/>
                </a:solidFill>
              </a:rPr>
              <a:t>), </a:t>
            </a:r>
            <a:r>
              <a:rPr lang="ko-KR" altLang="en-US" sz="1000" dirty="0">
                <a:solidFill>
                  <a:srgbClr val="17384C"/>
                </a:solidFill>
              </a:rPr>
              <a:t>상권영역</a:t>
            </a:r>
            <a:r>
              <a:rPr lang="en-US" altLang="ko-KR" sz="1000" dirty="0">
                <a:solidFill>
                  <a:srgbClr val="17384C"/>
                </a:solidFill>
              </a:rPr>
              <a:t>, </a:t>
            </a:r>
            <a:r>
              <a:rPr lang="ko-KR" altLang="en-US" sz="1000" dirty="0" err="1">
                <a:solidFill>
                  <a:srgbClr val="17384C"/>
                </a:solidFill>
              </a:rPr>
              <a:t>집객시설</a:t>
            </a:r>
            <a:r>
              <a:rPr lang="ko-KR" altLang="en-US" sz="1000" dirty="0">
                <a:solidFill>
                  <a:srgbClr val="17384C"/>
                </a:solidFill>
              </a:rPr>
              <a:t> 데이터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1312</Words>
  <Application>Microsoft Office PowerPoint</Application>
  <PresentationFormat>와이드스크린</PresentationFormat>
  <Paragraphs>159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504-14</cp:lastModifiedBy>
  <cp:revision>9</cp:revision>
  <dcterms:created xsi:type="dcterms:W3CDTF">2013-01-27T09:14:16Z</dcterms:created>
  <dcterms:modified xsi:type="dcterms:W3CDTF">2026-09-16T03:30:54Z</dcterms:modified>
  <cp:category/>
</cp:coreProperties>
</file>